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4" r:id="rId19"/>
  </p:sldIdLst>
  <p:sldSz cx="12192000" cy="6858000"/>
  <p:notesSz cx="6858000" cy="9144000"/>
  <p:embeddedFontLst>
    <p:embeddedFont>
      <p:font typeface="Lato Black" panose="020F0502020204030203" pitchFamily="34" charset="0"/>
      <p:bold r:id="rId21"/>
      <p:boldItalic r:id="rId22"/>
    </p:embeddedFont>
    <p:embeddedFont>
      <p:font typeface="Libre Baskerville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hOJMYRtMJHTmKh9+lTrbj+exko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lyanboga21" TargetMode="External"/><Relationship Id="rId2" Type="http://schemas.openxmlformats.org/officeDocument/2006/relationships/hyperlink" Target="https://www.linkedin.com/in/kalyan-boga-905701242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lyanboga21" TargetMode="External"/><Relationship Id="rId7" Type="http://schemas.openxmlformats.org/officeDocument/2006/relationships/hyperlink" Target="https://github.com/Shannu25" TargetMode="External"/><Relationship Id="rId2" Type="http://schemas.openxmlformats.org/officeDocument/2006/relationships/hyperlink" Target="https://www.linkedin.com/in/kalyan-boga-90570124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in/shanoorbasha" TargetMode="External"/><Relationship Id="rId5" Type="http://schemas.openxmlformats.org/officeDocument/2006/relationships/hyperlink" Target="https://github.com/manikumards" TargetMode="External"/><Relationship Id="rId4" Type="http://schemas.openxmlformats.org/officeDocument/2006/relationships/hyperlink" Target="https://www.linkedin.com/in/manikumar-konidela-9294003a8?utm_source=share_via&amp;utm_content=profile&amp;utm_medium=member_android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286000" y="3657600"/>
            <a:ext cx="76352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76752" y="3817620"/>
            <a:ext cx="545373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>
                <a:solidFill>
                  <a:srgbClr val="141414"/>
                </a:solidFill>
                <a:latin typeface="Calibri"/>
              </a:rPr>
              <a:t>Retail Banking Transaction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F3EABE-A14C-72B9-B04C-EC273C5620E2}"/>
              </a:ext>
            </a:extLst>
          </p:cNvPr>
          <p:cNvSpPr txBox="1"/>
          <p:nvPr/>
        </p:nvSpPr>
        <p:spPr>
          <a:xfrm>
            <a:off x="7310543" y="4529780"/>
            <a:ext cx="2610697" cy="22159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dirty="0">
                <a:solidFill>
                  <a:srgbClr val="5A5A5A"/>
                </a:solidFill>
                <a:latin typeface="Arial"/>
              </a:rPr>
              <a:t>MySQL</a:t>
            </a:r>
            <a:r>
              <a:rPr lang="en-IN" sz="1200" b="1" dirty="0">
                <a:solidFill>
                  <a:srgbClr val="5A5A5A"/>
                </a:solidFill>
              </a:rPr>
              <a:t> </a:t>
            </a:r>
            <a:r>
              <a:rPr lang="en-IN" sz="1200" b="1" dirty="0">
                <a:solidFill>
                  <a:srgbClr val="5A5A5A"/>
                </a:solidFill>
                <a:latin typeface="Arial"/>
              </a:rPr>
              <a:t>B</a:t>
            </a:r>
            <a:r>
              <a:rPr sz="1200" b="1" dirty="0" err="1">
                <a:solidFill>
                  <a:srgbClr val="5A5A5A"/>
                </a:solidFill>
                <a:latin typeface="Arial"/>
              </a:rPr>
              <a:t>usiness</a:t>
            </a:r>
            <a:r>
              <a:rPr lang="en-IN" sz="1200" b="1" dirty="0">
                <a:solidFill>
                  <a:srgbClr val="5A5A5A"/>
                </a:solidFill>
                <a:latin typeface="Arial"/>
              </a:rPr>
              <a:t> </a:t>
            </a:r>
            <a:r>
              <a:rPr sz="1200" b="1" dirty="0">
                <a:solidFill>
                  <a:srgbClr val="5A5A5A"/>
                </a:solidFill>
                <a:latin typeface="Arial"/>
              </a:rPr>
              <a:t>Analytics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0" dirty="0">
                <a:solidFill>
                  <a:srgbClr val="C00000"/>
                </a:solidFill>
                <a:latin typeface="Lato Black"/>
              </a:rPr>
              <a:t>About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6675120" cy="312803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rPr lang="en-IN" dirty="0"/>
              <a:t>• My name is Boga Kalyan</a:t>
            </a:r>
          </a:p>
          <a:p>
            <a:pPr>
              <a:spcAft>
                <a:spcPts val="7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rPr dirty="0"/>
              <a:t>• B.Sc. Physical Science (MPC</a:t>
            </a:r>
            <a:r>
              <a:rPr lang="en-IN" dirty="0"/>
              <a:t>s</a:t>
            </a:r>
            <a:r>
              <a:rPr dirty="0"/>
              <a:t>) Graduate</a:t>
            </a:r>
            <a:endParaRPr lang="en-IN" dirty="0"/>
          </a:p>
          <a:p>
            <a:pPr>
              <a:spcAft>
                <a:spcPts val="7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rPr dirty="0"/>
              <a:t>• Currently learning Data Science with GenAI</a:t>
            </a:r>
            <a:endParaRPr lang="en-IN" dirty="0"/>
          </a:p>
          <a:p>
            <a:pPr>
              <a:spcAft>
                <a:spcPts val="700"/>
              </a:spcAft>
              <a:defRPr sz="1700">
                <a:solidFill>
                  <a:srgbClr val="191919"/>
                </a:solidFill>
                <a:latin typeface="Arial"/>
              </a:defRPr>
            </a:pPr>
            <a:endParaRPr dirty="0"/>
          </a:p>
          <a:p>
            <a:pPr>
              <a:spcAft>
                <a:spcPts val="7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rPr dirty="0"/>
              <a:t>• Interested in solving real-world business problems using data</a:t>
            </a:r>
            <a:endParaRPr lang="en-IN" dirty="0"/>
          </a:p>
          <a:p>
            <a:pPr>
              <a:spcAft>
                <a:spcPts val="7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rPr lang="en-IN" dirty="0"/>
              <a:t>• </a:t>
            </a:r>
            <a:r>
              <a:rPr lang="en-US" dirty="0"/>
              <a:t>Understand how data can support better decision-making</a:t>
            </a:r>
          </a:p>
          <a:p>
            <a:pPr>
              <a:spcAft>
                <a:spcPts val="7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rPr lang="en-IN" dirty="0"/>
              <a:t>• </a:t>
            </a:r>
            <a:r>
              <a:rPr lang="en-US" dirty="0"/>
              <a:t>Build a strong career in data science and analytics</a:t>
            </a:r>
          </a:p>
          <a:p>
            <a:pPr>
              <a:spcAft>
                <a:spcPts val="700"/>
              </a:spcAft>
              <a:defRPr sz="1700">
                <a:solidFill>
                  <a:srgbClr val="191919"/>
                </a:solidFill>
                <a:latin typeface="Arial"/>
              </a:defRPr>
            </a:pPr>
            <a:endParaRPr dirty="0"/>
          </a:p>
          <a:p>
            <a:pPr>
              <a:spcAft>
                <a:spcPts val="700"/>
              </a:spcAft>
              <a:defRPr sz="1700">
                <a:solidFill>
                  <a:srgbClr val="191919"/>
                </a:solidFill>
                <a:latin typeface="Arial"/>
              </a:defRPr>
            </a:pPr>
            <a:r>
              <a:rPr dirty="0"/>
              <a:t>• Team Size: 3 Members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818120" y="14173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82712" y="1527048"/>
            <a:ext cx="309981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C00000"/>
                </a:solidFill>
                <a:latin typeface="Lato Black"/>
              </a:rPr>
              <a:t>LINKEDIN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82712" y="1801368"/>
            <a:ext cx="3099816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IN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hlinkClick r:id="rId2"/>
              </a:rPr>
              <a:t>https://www.linkedin.com/in/kalyanb</a:t>
            </a:r>
            <a:endParaRPr lang="en-IN" b="1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818120" y="283464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82712" y="2944368"/>
            <a:ext cx="309981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C00000"/>
                </a:solidFill>
                <a:latin typeface="Lato Black"/>
              </a:rPr>
              <a:t>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3240254"/>
            <a:ext cx="3099816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lang="en-IN" dirty="0">
                <a:solidFill>
                  <a:srgbClr val="191919"/>
                </a:solidFill>
                <a:latin typeface="Lato Black"/>
                <a:hlinkClick r:id="rId3"/>
              </a:rPr>
              <a:t>https://github.com/Kalyanboga21</a:t>
            </a:r>
            <a:endParaRPr b="0" dirty="0">
              <a:solidFill>
                <a:srgbClr val="191919"/>
              </a:solidFill>
              <a:latin typeface="Lato Black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248BF1-6B65-2F2F-BB4F-D860FAB8A737}"/>
              </a:ext>
            </a:extLst>
          </p:cNvPr>
          <p:cNvSpPr txBox="1"/>
          <p:nvPr/>
        </p:nvSpPr>
        <p:spPr>
          <a:xfrm>
            <a:off x="411480" y="256032"/>
            <a:ext cx="11338560" cy="4524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IN" sz="2700" b="0" dirty="0">
                <a:solidFill>
                  <a:srgbClr val="C00000"/>
                </a:solidFill>
                <a:latin typeface="Lato Black"/>
              </a:rPr>
              <a:t>Meet Team</a:t>
            </a:r>
            <a:endParaRPr sz="2700" b="0" dirty="0">
              <a:solidFill>
                <a:srgbClr val="C00000"/>
              </a:solidFill>
              <a:latin typeface="Lato Black"/>
            </a:endParaRPr>
          </a:p>
        </p:txBody>
      </p:sp>
      <p:sp>
        <p:nvSpPr>
          <p:cNvPr id="4" name="Google Shape;104;p3">
            <a:extLst>
              <a:ext uri="{FF2B5EF4-FFF2-40B4-BE49-F238E27FC236}">
                <a16:creationId xmlns:a16="http://schemas.microsoft.com/office/drawing/2014/main" id="{155785CB-E836-99BA-D378-4D51907DC929}"/>
              </a:ext>
            </a:extLst>
          </p:cNvPr>
          <p:cNvSpPr txBox="1"/>
          <p:nvPr/>
        </p:nvSpPr>
        <p:spPr>
          <a:xfrm>
            <a:off x="411480" y="1076653"/>
            <a:ext cx="3736904" cy="3662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B. Kalyan</a:t>
            </a:r>
          </a:p>
          <a:p>
            <a:endParaRPr lang="en-IN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Background: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BSc</a:t>
            </a:r>
          </a:p>
          <a:p>
            <a:br>
              <a:rPr lang="en-IN" sz="1800" dirty="0">
                <a:latin typeface="Times New Roman" pitchFamily="18" charset="0"/>
                <a:cs typeface="Times New Roman" pitchFamily="18" charset="0"/>
              </a:rPr>
            </a:b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Experience: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Fresher</a:t>
            </a:r>
          </a:p>
          <a:p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LinkedIn:</a:t>
            </a:r>
          </a:p>
          <a:p>
            <a:endParaRPr lang="en-IN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hlinkClick r:id="rId2"/>
              </a:rPr>
              <a:t>https://www.linkedin.com/in/kalyanb</a:t>
            </a:r>
            <a:endParaRPr lang="en-IN" sz="1600" b="1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  <a:p>
            <a:endParaRPr lang="en-IN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GitHub:</a:t>
            </a:r>
          </a:p>
          <a:p>
            <a:endParaRPr lang="en-IN" sz="16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dirty="0">
                <a:solidFill>
                  <a:srgbClr val="191919"/>
                </a:solidFill>
                <a:latin typeface="Lato Black"/>
                <a:hlinkClick r:id="rId3"/>
              </a:rPr>
              <a:t>https://github.com/Kalyanboga21</a:t>
            </a:r>
            <a:endParaRPr lang="en-IN" sz="1600" dirty="0">
              <a:solidFill>
                <a:srgbClr val="191919"/>
              </a:solidFill>
              <a:latin typeface="Lato Black"/>
            </a:endParaRPr>
          </a:p>
        </p:txBody>
      </p:sp>
      <p:sp>
        <p:nvSpPr>
          <p:cNvPr id="5" name="Google Shape;104;p3">
            <a:extLst>
              <a:ext uri="{FF2B5EF4-FFF2-40B4-BE49-F238E27FC236}">
                <a16:creationId xmlns:a16="http://schemas.microsoft.com/office/drawing/2014/main" id="{27C623A3-AB87-122C-B6BD-AD4F9BECE613}"/>
              </a:ext>
            </a:extLst>
          </p:cNvPr>
          <p:cNvSpPr txBox="1"/>
          <p:nvPr/>
        </p:nvSpPr>
        <p:spPr>
          <a:xfrm>
            <a:off x="4188730" y="1076652"/>
            <a:ext cx="3814542" cy="3877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K. Mani Kumar</a:t>
            </a:r>
          </a:p>
          <a:p>
            <a:endParaRPr lang="en-IN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Background: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800" dirty="0" err="1">
                <a:latin typeface="Times New Roman" pitchFamily="18" charset="0"/>
                <a:cs typeface="Times New Roman" pitchFamily="18" charset="0"/>
              </a:rPr>
              <a:t>B.Tech</a:t>
            </a:r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br>
              <a:rPr lang="en-IN" sz="1800" dirty="0">
                <a:latin typeface="Times New Roman" pitchFamily="18" charset="0"/>
                <a:cs typeface="Times New Roman" pitchFamily="18" charset="0"/>
              </a:rPr>
            </a:b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Experience: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Fresher</a:t>
            </a:r>
          </a:p>
          <a:p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LinkedIn:</a:t>
            </a:r>
          </a:p>
          <a:p>
            <a:endParaRPr lang="en-IN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hlinkClick r:id="rId4"/>
              </a:rPr>
              <a:t>https://www.linkedin.com/in/manikum</a:t>
            </a:r>
            <a:endParaRPr lang="en-IN" sz="1600" b="1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  <a:p>
            <a:endParaRPr lang="en-IN" sz="1600" b="1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GitHub:</a:t>
            </a:r>
          </a:p>
          <a:p>
            <a:endParaRPr lang="en-IN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hlinkClick r:id="rId5"/>
              </a:rPr>
              <a:t>https://github.com/manikumards</a:t>
            </a:r>
            <a:br>
              <a:rPr lang="en-IN" sz="1800" dirty="0">
                <a:latin typeface="Times New Roman" pitchFamily="18" charset="0"/>
                <a:cs typeface="Times New Roman" pitchFamily="18" charset="0"/>
              </a:rPr>
            </a:br>
            <a:endParaRPr sz="1800" b="1" i="0" u="none" strike="noStrike" cap="none" dirty="0">
              <a:solidFill>
                <a:schemeClr val="dk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  <p:sp>
        <p:nvSpPr>
          <p:cNvPr id="6" name="Google Shape;104;p3">
            <a:extLst>
              <a:ext uri="{FF2B5EF4-FFF2-40B4-BE49-F238E27FC236}">
                <a16:creationId xmlns:a16="http://schemas.microsoft.com/office/drawing/2014/main" id="{E24502D9-5F17-22DF-A808-617691DD2F62}"/>
              </a:ext>
            </a:extLst>
          </p:cNvPr>
          <p:cNvSpPr txBox="1"/>
          <p:nvPr/>
        </p:nvSpPr>
        <p:spPr>
          <a:xfrm>
            <a:off x="8043618" y="1045874"/>
            <a:ext cx="3736904" cy="3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R. </a:t>
            </a:r>
            <a:r>
              <a:rPr lang="en-IN" sz="1800" b="1" dirty="0" err="1">
                <a:latin typeface="Times New Roman" pitchFamily="18" charset="0"/>
                <a:cs typeface="Times New Roman" pitchFamily="18" charset="0"/>
              </a:rPr>
              <a:t>Shanoor</a:t>
            </a: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 Basha</a:t>
            </a:r>
          </a:p>
          <a:p>
            <a:endParaRPr lang="en-IN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Background: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BCA</a:t>
            </a:r>
          </a:p>
          <a:p>
            <a:br>
              <a:rPr lang="en-IN" sz="1800" dirty="0">
                <a:latin typeface="Times New Roman" pitchFamily="18" charset="0"/>
                <a:cs typeface="Times New Roman" pitchFamily="18" charset="0"/>
              </a:rPr>
            </a:b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Experience:</a:t>
            </a:r>
            <a:r>
              <a:rPr lang="en-IN" sz="1800" dirty="0">
                <a:latin typeface="Times New Roman" pitchFamily="18" charset="0"/>
                <a:cs typeface="Times New Roman" pitchFamily="18" charset="0"/>
              </a:rPr>
              <a:t> Fresher</a:t>
            </a:r>
          </a:p>
          <a:p>
            <a:endParaRPr lang="en-IN" sz="1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LinkedIn:</a:t>
            </a:r>
          </a:p>
          <a:p>
            <a:endParaRPr lang="en-IN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hlinkClick r:id="rId6"/>
              </a:rPr>
              <a:t>https://www.linkedin.com/in/shanoor</a:t>
            </a:r>
            <a:endParaRPr lang="en-IN" sz="1600" b="1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  <a:p>
            <a:endParaRPr lang="en-IN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GitHub:</a:t>
            </a:r>
          </a:p>
          <a:p>
            <a:endParaRPr lang="en-IN" sz="1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hlinkClick r:id="rId7"/>
              </a:rPr>
              <a:t>https://github.com/Shannu25</a:t>
            </a:r>
            <a:br>
              <a:rPr lang="en-IN" sz="1800" dirty="0">
                <a:latin typeface="Times New Roman" pitchFamily="18" charset="0"/>
                <a:cs typeface="Times New Roman" pitchFamily="18" charset="0"/>
              </a:rPr>
            </a:br>
            <a:endParaRPr sz="1800" b="1" i="0" u="none" strike="noStrike" cap="none" dirty="0">
              <a:solidFill>
                <a:schemeClr val="dk1"/>
              </a:solidFill>
              <a:latin typeface="Times New Roman" pitchFamily="18" charset="0"/>
              <a:ea typeface="Calibri"/>
              <a:cs typeface="Times New Roman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564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0">
                <a:solidFill>
                  <a:srgbClr val="C00000"/>
                </a:solidFill>
                <a:latin typeface="Lato Black"/>
              </a:rP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9056" y="1197864"/>
            <a:ext cx="10241280" cy="372249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457200" lvl="0" indent="-371634">
              <a:lnSpc>
                <a:spcPct val="70000"/>
              </a:lnSpc>
              <a:spcBef>
                <a:spcPts val="1000"/>
              </a:spcBef>
              <a:buSzPts val="2253"/>
              <a:buFont typeface="Arial"/>
              <a:buChar char="•"/>
            </a:pPr>
            <a:r>
              <a:rPr lang="en-US" sz="2000" b="1" dirty="0"/>
              <a:t>Project Overview</a:t>
            </a:r>
            <a:br>
              <a:rPr lang="en-US" sz="2000" b="1" dirty="0"/>
            </a:br>
            <a:endParaRPr lang="en-US" sz="2000" b="1" dirty="0"/>
          </a:p>
          <a:p>
            <a:pPr marL="457200" lvl="0" indent="-371634">
              <a:lnSpc>
                <a:spcPct val="70000"/>
              </a:lnSpc>
              <a:buSzPts val="2253"/>
              <a:buFont typeface="Arial"/>
              <a:buChar char="•"/>
            </a:pPr>
            <a:r>
              <a:rPr lang="en-US" sz="2000" b="1" dirty="0"/>
              <a:t>Business Scenario</a:t>
            </a:r>
            <a:br>
              <a:rPr lang="en-US" sz="2000" b="1" dirty="0"/>
            </a:br>
            <a:endParaRPr lang="en-US" sz="2000" b="1" dirty="0"/>
          </a:p>
          <a:p>
            <a:pPr marL="457200" lvl="0" indent="-371634">
              <a:lnSpc>
                <a:spcPct val="70000"/>
              </a:lnSpc>
              <a:buSzPts val="2253"/>
              <a:buFont typeface="Arial"/>
              <a:buChar char="•"/>
            </a:pPr>
            <a:r>
              <a:rPr lang="en-US" sz="2000" b="1" dirty="0"/>
              <a:t>Business Objectives</a:t>
            </a:r>
            <a:br>
              <a:rPr lang="en-US" sz="2000" b="1" dirty="0"/>
            </a:br>
            <a:endParaRPr lang="en-US" sz="2000" b="1" dirty="0"/>
          </a:p>
          <a:p>
            <a:pPr marL="457200" lvl="0" indent="-371634">
              <a:lnSpc>
                <a:spcPct val="70000"/>
              </a:lnSpc>
              <a:buSzPts val="2253"/>
              <a:buFont typeface="Arial"/>
              <a:buChar char="•"/>
            </a:pPr>
            <a:r>
              <a:rPr lang="en-US" sz="2000" b="1" dirty="0"/>
              <a:t>Dataset &amp; Database Overview</a:t>
            </a:r>
            <a:br>
              <a:rPr lang="en-US" sz="2000" b="1" dirty="0"/>
            </a:br>
            <a:endParaRPr lang="en-US" sz="2000" b="1" dirty="0"/>
          </a:p>
          <a:p>
            <a:pPr marL="457200" lvl="0" indent="-371634">
              <a:lnSpc>
                <a:spcPct val="70000"/>
              </a:lnSpc>
              <a:buSzPts val="2253"/>
              <a:buFont typeface="Arial"/>
              <a:buChar char="•"/>
            </a:pPr>
            <a:r>
              <a:rPr lang="en-US" sz="2000" b="1" dirty="0"/>
              <a:t>ER Diagram &amp; Database Structure</a:t>
            </a:r>
            <a:br>
              <a:rPr lang="en-US" sz="2000" b="1" dirty="0"/>
            </a:br>
            <a:endParaRPr lang="en-US" sz="2000" b="1" dirty="0"/>
          </a:p>
          <a:p>
            <a:pPr marL="457200" lvl="0" indent="-371634">
              <a:lnSpc>
                <a:spcPct val="70000"/>
              </a:lnSpc>
              <a:buSzPts val="2253"/>
              <a:buFont typeface="Arial"/>
              <a:buChar char="•"/>
            </a:pPr>
            <a:r>
              <a:rPr lang="en-US" sz="2000" b="1" dirty="0"/>
              <a:t>Analysis of the Objectives</a:t>
            </a:r>
            <a:br>
              <a:rPr lang="en-US" sz="2000" b="1" dirty="0"/>
            </a:br>
            <a:endParaRPr lang="en-US" sz="2000" b="1" dirty="0"/>
          </a:p>
          <a:p>
            <a:pPr marL="457200" lvl="0" indent="-371634">
              <a:lnSpc>
                <a:spcPct val="70000"/>
              </a:lnSpc>
              <a:buSzPts val="2253"/>
              <a:buFont typeface="Arial"/>
              <a:buChar char="•"/>
            </a:pPr>
            <a:r>
              <a:rPr lang="en-US" sz="2000" b="1" dirty="0"/>
              <a:t>Overall Key Findings</a:t>
            </a:r>
            <a:br>
              <a:rPr lang="en-US" sz="2000" b="1" dirty="0"/>
            </a:br>
            <a:endParaRPr lang="en-US" sz="2000" b="1" dirty="0"/>
          </a:p>
          <a:p>
            <a:pPr marL="457200" lvl="0" indent="-371634">
              <a:lnSpc>
                <a:spcPct val="70000"/>
              </a:lnSpc>
              <a:buSzPts val="2253"/>
              <a:buFont typeface="Arial"/>
              <a:buChar char="•"/>
            </a:pPr>
            <a:r>
              <a:rPr lang="en-US" sz="2000" b="1" dirty="0"/>
              <a:t>Business Recommendations</a:t>
            </a:r>
            <a:br>
              <a:rPr lang="en-US" sz="2000" b="1" dirty="0"/>
            </a:br>
            <a:endParaRPr lang="en-US" sz="2000" b="1" dirty="0"/>
          </a:p>
          <a:p>
            <a:pPr marL="457200" lvl="0" indent="-371634">
              <a:lnSpc>
                <a:spcPct val="70000"/>
              </a:lnSpc>
              <a:buSzPts val="2253"/>
              <a:buFont typeface="Arial"/>
              <a:buChar char="•"/>
            </a:pPr>
            <a:r>
              <a:rPr lang="en-US" sz="2000" b="1" dirty="0"/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0">
                <a:solidFill>
                  <a:srgbClr val="C00000"/>
                </a:solidFill>
                <a:latin typeface="Lato Black"/>
              </a:rPr>
              <a:t>Project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80160"/>
            <a:ext cx="27432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58952" y="1389888"/>
            <a:ext cx="241401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C00000"/>
                </a:solidFill>
                <a:latin typeface="Lato Black"/>
              </a:rPr>
              <a:t>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1600200"/>
            <a:ext cx="2414016" cy="65248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000" b="0" dirty="0">
                <a:solidFill>
                  <a:srgbClr val="191919"/>
                </a:solidFill>
                <a:latin typeface="Lato Black"/>
              </a:rPr>
              <a:t>Retail Banking Transaction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7720" y="2340864"/>
            <a:ext cx="2414016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dirty="0">
                <a:solidFill>
                  <a:srgbClr val="5A5A5A"/>
                </a:solidFill>
                <a:latin typeface="Arial"/>
              </a:rPr>
              <a:t>MySQL</a:t>
            </a:r>
            <a:r>
              <a:rPr lang="en-IN" sz="1000" dirty="0">
                <a:solidFill>
                  <a:srgbClr val="5A5A5A"/>
                </a:solidFill>
              </a:rPr>
              <a:t> </a:t>
            </a:r>
            <a:r>
              <a:rPr lang="en-IN" sz="1000" b="0" dirty="0">
                <a:solidFill>
                  <a:srgbClr val="5A5A5A"/>
                </a:solidFill>
                <a:latin typeface="Arial"/>
              </a:rPr>
              <a:t>B</a:t>
            </a:r>
            <a:r>
              <a:rPr sz="1000" b="0" dirty="0" err="1">
                <a:solidFill>
                  <a:srgbClr val="5A5A5A"/>
                </a:solidFill>
                <a:latin typeface="Arial"/>
              </a:rPr>
              <a:t>usiness</a:t>
            </a:r>
            <a:r>
              <a:rPr lang="en-IN" sz="1000" dirty="0">
                <a:solidFill>
                  <a:srgbClr val="5A5A5A"/>
                </a:solidFill>
              </a:rPr>
              <a:t> </a:t>
            </a:r>
            <a:r>
              <a:rPr sz="1000" b="0" dirty="0">
                <a:solidFill>
                  <a:srgbClr val="5A5A5A"/>
                </a:solidFill>
                <a:latin typeface="Arial"/>
              </a:rPr>
              <a:t>Analytics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280160"/>
            <a:ext cx="2286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76472" y="1389888"/>
            <a:ext cx="195681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C00000"/>
                </a:solidFill>
                <a:latin typeface="Lato Black"/>
              </a:rPr>
              <a:t>ROLE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6472" y="1691639"/>
            <a:ext cx="1956816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0">
                <a:solidFill>
                  <a:srgbClr val="191919"/>
                </a:solidFill>
                <a:latin typeface="Lato Black"/>
              </a:rPr>
              <a:t>Data Analyst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6472" y="2090959"/>
            <a:ext cx="1956816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 dirty="0">
                <a:solidFill>
                  <a:srgbClr val="5A5A5A"/>
                </a:solidFill>
                <a:latin typeface="Arial"/>
              </a:rPr>
              <a:t>Business-focused SQL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80160"/>
            <a:ext cx="22860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389888"/>
            <a:ext cx="195681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C00000"/>
                </a:solidFill>
                <a:latin typeface="Lato Black"/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1691639"/>
            <a:ext cx="1956816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0">
                <a:solidFill>
                  <a:srgbClr val="191919"/>
                </a:solidFill>
                <a:latin typeface="Lato Black"/>
              </a:rPr>
              <a:t>retail_banking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103120"/>
            <a:ext cx="1956816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Relational MySQL database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1280160"/>
            <a:ext cx="26517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97112" y="1389888"/>
            <a:ext cx="2322576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C00000"/>
                </a:solidFill>
                <a:latin typeface="Lato Black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2" y="1691639"/>
            <a:ext cx="2322576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200" b="0">
                <a:solidFill>
                  <a:srgbClr val="191919"/>
                </a:solidFill>
                <a:latin typeface="Lato Black"/>
              </a:rPr>
              <a:t>9,140 records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2" y="2103120"/>
            <a:ext cx="2322576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7 related tables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971800"/>
            <a:ext cx="20116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600" b="1">
                <a:solidFill>
                  <a:srgbClr val="C00000"/>
                </a:solidFill>
                <a:latin typeface="Lato Black"/>
              </a:rPr>
              <a:t>Project workflow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29000"/>
            <a:ext cx="1920240" cy="86868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" y="3611880"/>
            <a:ext cx="1773936" cy="4572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200" b="1">
                <a:solidFill>
                  <a:srgbClr val="191919"/>
                </a:solidFill>
                <a:latin typeface="Arial"/>
              </a:rPr>
              <a:t>Business Requirement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360" y="3429000"/>
            <a:ext cx="1920240" cy="86868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953512" y="3611880"/>
            <a:ext cx="1773936" cy="4572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200" b="1">
                <a:solidFill>
                  <a:srgbClr val="191919"/>
                </a:solidFill>
                <a:latin typeface="Arial"/>
              </a:rPr>
              <a:t>Data Understanding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74920" y="3429000"/>
            <a:ext cx="1920240" cy="86868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48072" y="3611880"/>
            <a:ext cx="1773936" cy="4572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200" b="1">
                <a:solidFill>
                  <a:srgbClr val="191919"/>
                </a:solidFill>
                <a:latin typeface="Arial"/>
              </a:rPr>
              <a:t>Database Creation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79" y="3429000"/>
            <a:ext cx="1920240" cy="86868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42631" y="3611880"/>
            <a:ext cx="1773936" cy="4572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200" b="1">
                <a:solidFill>
                  <a:srgbClr val="191919"/>
                </a:solidFill>
                <a:latin typeface="Arial"/>
              </a:rPr>
              <a:t>SQL Analysis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3429000"/>
            <a:ext cx="1920240" cy="868680"/>
          </a:xfrm>
          <a:prstGeom prst="roundRect">
            <a:avLst/>
          </a:prstGeom>
          <a:solidFill>
            <a:srgbClr val="F2F2F2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37192" y="3611880"/>
            <a:ext cx="1773936" cy="45720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ctr"/>
            <a:r>
              <a:rPr sz="1200" b="1">
                <a:solidFill>
                  <a:srgbClr val="191919"/>
                </a:solidFill>
                <a:latin typeface="Arial"/>
              </a:rPr>
              <a:t>Insights &amp; Recommendations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0">
                <a:solidFill>
                  <a:srgbClr val="C00000"/>
                </a:solidFill>
                <a:latin typeface="Lato Black"/>
              </a:rPr>
              <a:t>Business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9077"/>
            <a:ext cx="10698480" cy="3637919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lvl="0"/>
            <a:r>
              <a:rPr lang="en-IN" sz="1800" dirty="0"/>
              <a:t>• A retail bank manages customer accounts, transactions, loans, loan payments, and cards across multiple branches. </a:t>
            </a:r>
          </a:p>
          <a:p>
            <a:pPr lvl="0"/>
            <a:endParaRPr lang="en-IN" sz="1800" dirty="0"/>
          </a:p>
          <a:p>
            <a:pPr lvl="0"/>
            <a:r>
              <a:rPr lang="en-IN" sz="1800" dirty="0"/>
              <a:t>• The bank generates large volumes of customer and financial data through these banking activities.</a:t>
            </a:r>
          </a:p>
          <a:p>
            <a:pPr lvl="0"/>
            <a:r>
              <a:rPr lang="en-IN" sz="1800" dirty="0"/>
              <a:t> </a:t>
            </a:r>
          </a:p>
          <a:p>
            <a:pPr lvl="0"/>
            <a:r>
              <a:rPr lang="en-IN" sz="1800" dirty="0"/>
              <a:t>• Management needs to understand customer profiles, account usage, transaction behaviour, loan repayment performance, and card engagement. </a:t>
            </a:r>
          </a:p>
          <a:p>
            <a:pPr lvl="0"/>
            <a:endParaRPr lang="en-IN" sz="1800" dirty="0"/>
          </a:p>
          <a:p>
            <a:pPr lvl="0"/>
            <a:r>
              <a:rPr lang="en-IN" sz="1800" dirty="0"/>
              <a:t>• SQL is used to </a:t>
            </a:r>
            <a:r>
              <a:rPr lang="en-IN" sz="1800" dirty="0" err="1"/>
              <a:t>analyze</a:t>
            </a:r>
            <a:r>
              <a:rPr lang="en-IN" sz="1800" dirty="0"/>
              <a:t> this data and identify meaningful patterns and business insights. </a:t>
            </a:r>
          </a:p>
          <a:p>
            <a:pPr lvl="0"/>
            <a:endParaRPr lang="en-IN" sz="1800" dirty="0"/>
          </a:p>
          <a:p>
            <a:pPr lvl="0"/>
            <a:r>
              <a:rPr lang="en-IN" sz="1800" dirty="0"/>
              <a:t>• These insights can help the bank improve customer engagement, monitor financial performance, and support better decision-making.</a:t>
            </a:r>
          </a:p>
          <a:p>
            <a:pPr algn="l"/>
            <a:endParaRPr sz="1800" b="0" dirty="0">
              <a:solidFill>
                <a:srgbClr val="191919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0">
                <a:solidFill>
                  <a:srgbClr val="C00000"/>
                </a:solidFill>
                <a:latin typeface="Lato Black"/>
              </a:rPr>
              <a:t>Business 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3444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4114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Lato Black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43434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rial"/>
              </a:rPr>
              <a:t>Customer Profile &amp; 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01368"/>
            <a:ext cx="43434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Understand the customer base and differences between customer groups.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3444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417320"/>
            <a:ext cx="4114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Lato Black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371600"/>
            <a:ext cx="43434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rial"/>
              </a:rPr>
              <a:t>Account Usage &amp; Branch Activity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801368"/>
            <a:ext cx="43434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Understand account usage across account types and branches.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83464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4114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Lato Black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71800"/>
            <a:ext cx="43434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rial"/>
              </a:rPr>
              <a:t>Transaction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401568"/>
            <a:ext cx="43434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Analyse how customers use accounts and how money moves through the bank.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83464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017520"/>
            <a:ext cx="4114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Lato Black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971800"/>
            <a:ext cx="43434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rial"/>
              </a:rPr>
              <a:t>Loan Performance &amp; Repayment Behaviour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401568"/>
            <a:ext cx="43434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Evaluate loan performance and repayment behaviour.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443484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29000" y="4617720"/>
            <a:ext cx="41148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Lato Black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572000"/>
            <a:ext cx="4343400" cy="3474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00" b="1">
                <a:solidFill>
                  <a:srgbClr val="191919"/>
                </a:solidFill>
                <a:latin typeface="Arial"/>
              </a:rPr>
              <a:t>Card Usage &amp; Product Engagement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5001768"/>
            <a:ext cx="4343400" cy="548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0">
                <a:solidFill>
                  <a:srgbClr val="5A5A5A"/>
                </a:solidFill>
                <a:latin typeface="Arial"/>
              </a:rPr>
              <a:t>Understand card usage and its relationship with broader banking products.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0">
                <a:solidFill>
                  <a:srgbClr val="C00000"/>
                </a:solidFill>
                <a:latin typeface="Lato Black"/>
              </a:rPr>
              <a:t>Dataset &amp; Database Overview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60120" y="1234440"/>
          <a:ext cx="56692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Table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Rows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Columns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Customers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Accounts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700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Branches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Loans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Loan_Payments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2,000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Cards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600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Transactions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9,140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91919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086600" y="1325880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C00000"/>
                </a:solidFill>
                <a:latin typeface="Lato Black"/>
              </a:rPr>
              <a:t>Database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1783080"/>
            <a:ext cx="4160520" cy="32004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Database: retail_banking</a:t>
            </a:r>
          </a:p>
          <a:p>
            <a:pPr>
              <a:spcAft>
                <a:spcPts val="7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Relational database implemented in MySQL</a:t>
            </a:r>
          </a:p>
          <a:p>
            <a:pPr>
              <a:spcAft>
                <a:spcPts val="7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Primary keys used to uniquely identify records</a:t>
            </a:r>
          </a:p>
          <a:p>
            <a:pPr>
              <a:spcAft>
                <a:spcPts val="7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Foreign keys used to connect related tables</a:t>
            </a:r>
          </a:p>
          <a:p>
            <a:pPr>
              <a:spcAft>
                <a:spcPts val="700"/>
              </a:spcAft>
              <a:defRPr sz="1500">
                <a:solidFill>
                  <a:srgbClr val="191919"/>
                </a:solidFill>
                <a:latin typeface="Arial"/>
              </a:defRPr>
            </a:pPr>
            <a:r>
              <a:t>• CSV data imported and verified before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5166360"/>
            <a:ext cx="416052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00" b="1">
                <a:solidFill>
                  <a:srgbClr val="C00000"/>
                </a:solidFill>
                <a:latin typeface="Arial"/>
              </a:rPr>
              <a:t>7 tables  •  9,140 records  •  74 columns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0">
                <a:solidFill>
                  <a:srgbClr val="C00000"/>
                </a:solidFill>
                <a:latin typeface="Lato Black"/>
              </a:rPr>
              <a:t>ER Diagram &amp; Database Structure</a:t>
            </a:r>
          </a:p>
        </p:txBody>
      </p:sp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7315200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280160"/>
            <a:ext cx="310896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500" b="1">
                <a:solidFill>
                  <a:srgbClr val="C00000"/>
                </a:solidFill>
                <a:latin typeface="Lato Black"/>
              </a:rPr>
              <a:t>Key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0" y="1783080"/>
            <a:ext cx="3246120" cy="34747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t>• Customers → Accounts</a:t>
            </a:r>
          </a:p>
          <a:p>
            <a:pPr>
              <a:spcAft>
                <a:spcPts val="7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t>• Customers → Loans</a:t>
            </a:r>
          </a:p>
          <a:p>
            <a:pPr>
              <a:spcAft>
                <a:spcPts val="7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t>• Branches → Accounts</a:t>
            </a:r>
          </a:p>
          <a:p>
            <a:pPr>
              <a:spcAft>
                <a:spcPts val="7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t>• Branches → Loans</a:t>
            </a:r>
          </a:p>
          <a:p>
            <a:pPr>
              <a:spcAft>
                <a:spcPts val="7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t>• Accounts → Transactions</a:t>
            </a:r>
          </a:p>
          <a:p>
            <a:pPr>
              <a:spcAft>
                <a:spcPts val="7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t>• Accounts → Cards</a:t>
            </a:r>
          </a:p>
          <a:p>
            <a:pPr>
              <a:spcAft>
                <a:spcPts val="700"/>
              </a:spcAft>
              <a:defRPr sz="1400">
                <a:solidFill>
                  <a:srgbClr val="191919"/>
                </a:solidFill>
                <a:latin typeface="Arial"/>
              </a:defRPr>
            </a:pPr>
            <a:r>
              <a:t>• Loans → Loan_Payments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5166360"/>
            <a:ext cx="320040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Arial"/>
              </a:rPr>
              <a:t>The database structure supports analysis across customers, products, branches and financial activity.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sz="2200">
                <a:solidFill>
                  <a:srgbClr val="C00000"/>
                </a:solidFill>
                <a:latin typeface="Lato Black"/>
              </a:rPr>
              <a:t>Customer Profile &amp; Segmentation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704515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 dirty="0">
                <a:solidFill>
                  <a:srgbClr val="5A5A5A"/>
                </a:solidFill>
                <a:latin typeface="Arial"/>
              </a:rPr>
              <a:t>Who are the bank's customers, and how do segments differ?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1161715"/>
            <a:ext cx="10058400" cy="228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60250" y="1641776"/>
            <a:ext cx="3591780" cy="4067973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 dirty="0">
                <a:solidFill>
                  <a:srgbClr val="333333"/>
                </a:solidFill>
                <a:latin typeface="Arial"/>
              </a:rPr>
              <a:t>1. Customer base: </a:t>
            </a:r>
            <a:r>
              <a:rPr sz="1600" dirty="0">
                <a:solidFill>
                  <a:srgbClr val="5A5A5A"/>
                </a:solidFill>
                <a:latin typeface="Arial"/>
              </a:rPr>
              <a:t>500 customers are in the dataset, including 375 active and 125 inactive customers.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 dirty="0">
                <a:solidFill>
                  <a:srgbClr val="333333"/>
                </a:solidFill>
                <a:latin typeface="Arial"/>
              </a:rPr>
              <a:t>2. Segment mix: </a:t>
            </a:r>
            <a:r>
              <a:rPr sz="1600" dirty="0">
                <a:solidFill>
                  <a:srgbClr val="5A5A5A"/>
                </a:solidFill>
                <a:latin typeface="Arial"/>
              </a:rPr>
              <a:t>Student is the largest segment with 100 customers (20%), followed by Business with 97.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 dirty="0">
                <a:solidFill>
                  <a:srgbClr val="333333"/>
                </a:solidFill>
                <a:latin typeface="Arial"/>
              </a:rPr>
              <a:t>3. Income profile: </a:t>
            </a:r>
            <a:r>
              <a:rPr sz="1600" dirty="0">
                <a:solidFill>
                  <a:srgbClr val="5A5A5A"/>
                </a:solidFill>
                <a:latin typeface="Arial"/>
              </a:rPr>
              <a:t>Average annual income ranges from $140,525.70 in Retail to $158,667.68 in Premium.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 dirty="0">
                <a:solidFill>
                  <a:srgbClr val="333333"/>
                </a:solidFill>
                <a:latin typeface="Arial"/>
              </a:rPr>
              <a:t>4. Credit profile: </a:t>
            </a:r>
            <a:r>
              <a:rPr sz="1600" dirty="0">
                <a:solidFill>
                  <a:srgbClr val="5A5A5A"/>
                </a:solidFill>
                <a:latin typeface="Arial"/>
              </a:rPr>
              <a:t>Average credit scores are closely grouped, ranging from 679.15 for Student to 687.08 for Retail</a:t>
            </a:r>
            <a:r>
              <a:rPr dirty="0">
                <a:solidFill>
                  <a:srgbClr val="5A5A5A"/>
                </a:solidFill>
                <a:latin typeface="Arial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FD923A-B5E9-9DB4-3DB9-C4F273A75D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618"/>
          <a:stretch>
            <a:fillRect/>
          </a:stretch>
        </p:blipFill>
        <p:spPr>
          <a:xfrm>
            <a:off x="658368" y="1354398"/>
            <a:ext cx="5828696" cy="8957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C8B1C1-155F-6B73-4C9A-F0E6AF59E8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516" y="2367211"/>
            <a:ext cx="2722548" cy="17665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A11A56-2638-EBDB-21AB-355F46A08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54" y="4227955"/>
            <a:ext cx="4241436" cy="8103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A3EEDC-D855-3F10-5BD5-5B7D6CD3DC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94" b="14710"/>
          <a:stretch>
            <a:fillRect/>
          </a:stretch>
        </p:blipFill>
        <p:spPr>
          <a:xfrm>
            <a:off x="3694038" y="5038344"/>
            <a:ext cx="2793026" cy="12244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sz="2200">
                <a:solidFill>
                  <a:srgbClr val="C00000"/>
                </a:solidFill>
                <a:latin typeface="Lato Black"/>
              </a:rPr>
              <a:t>Account Usage &amp; Branch Activity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7" y="667513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>
                <a:solidFill>
                  <a:srgbClr val="5A5A5A"/>
                </a:solidFill>
                <a:latin typeface="Arial"/>
              </a:rPr>
              <a:t>How are accounts used, and how does activity vary by account type and branch?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7" y="1119366"/>
            <a:ext cx="10058400" cy="228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98427" y="1395013"/>
            <a:ext cx="3712064" cy="4419191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 dirty="0">
                <a:solidFill>
                  <a:srgbClr val="333333"/>
                </a:solidFill>
                <a:latin typeface="Arial"/>
              </a:rPr>
              <a:t>1. Account mix: </a:t>
            </a:r>
            <a:r>
              <a:rPr sz="1600" dirty="0">
                <a:solidFill>
                  <a:srgbClr val="5A5A5A"/>
                </a:solidFill>
                <a:latin typeface="Arial"/>
              </a:rPr>
              <a:t>IRA is the most common account type with 136 accounts, while Checking has 103.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 dirty="0">
                <a:solidFill>
                  <a:srgbClr val="333333"/>
                </a:solidFill>
                <a:latin typeface="Arial"/>
              </a:rPr>
              <a:t>2. Balance concentration: </a:t>
            </a:r>
            <a:r>
              <a:rPr sz="1600" dirty="0">
                <a:solidFill>
                  <a:srgbClr val="5A5A5A"/>
                </a:solidFill>
                <a:latin typeface="Arial"/>
              </a:rPr>
              <a:t>IRA has the highest total balance at $2.89M, followed by Certificates of Deposit at $2.60M.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 dirty="0">
                <a:solidFill>
                  <a:srgbClr val="333333"/>
                </a:solidFill>
                <a:latin typeface="Arial"/>
              </a:rPr>
              <a:t>3. Account status: </a:t>
            </a:r>
            <a:r>
              <a:rPr sz="1600" dirty="0">
                <a:solidFill>
                  <a:srgbClr val="5A5A5A"/>
                </a:solidFill>
                <a:latin typeface="Arial"/>
              </a:rPr>
              <a:t>497 accounts are Active and 203 are Closed, so about 71% of accounts remain active.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1" dirty="0">
                <a:solidFill>
                  <a:srgbClr val="333333"/>
                </a:solidFill>
                <a:latin typeface="Arial"/>
              </a:rPr>
              <a:t>4. Regional value: </a:t>
            </a:r>
            <a:r>
              <a:rPr sz="1600" dirty="0">
                <a:solidFill>
                  <a:srgbClr val="5A5A5A"/>
                </a:solidFill>
                <a:latin typeface="Arial"/>
              </a:rPr>
              <a:t>West has the highest average account balance at $16,447.36, while South has the largest account count.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1AC612-D89F-108E-02A1-ABDB1535D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7" y="1295839"/>
            <a:ext cx="5664794" cy="9612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DD6621-D824-4350-783C-7F78B6E73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727" y="2257060"/>
            <a:ext cx="2381582" cy="1609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0F3856-B576-7C05-4382-BE4075E80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947" y="4036252"/>
            <a:ext cx="5437633" cy="11055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875962-22D9-4526-29CA-CCDEBDC217D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661"/>
          <a:stretch>
            <a:fillRect/>
          </a:stretch>
        </p:blipFill>
        <p:spPr>
          <a:xfrm>
            <a:off x="2014727" y="5060662"/>
            <a:ext cx="2367410" cy="16327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sz="2200">
                <a:solidFill>
                  <a:srgbClr val="C00000"/>
                </a:solidFill>
                <a:latin typeface="Lato Black"/>
              </a:rPr>
              <a:t>Transaction Patterns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1036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>
                <a:solidFill>
                  <a:srgbClr val="5A5A5A"/>
                </a:solidFill>
                <a:latin typeface="Arial"/>
              </a:rPr>
              <a:t>How is money moving through the bank, and how consistently?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1067562"/>
            <a:ext cx="10058400" cy="228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07755" y="1282748"/>
            <a:ext cx="3763877" cy="4847674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 dirty="0">
                <a:solidFill>
                  <a:srgbClr val="333333"/>
                </a:solidFill>
                <a:latin typeface="Arial"/>
              </a:rPr>
              <a:t>1. Transaction volume: </a:t>
            </a:r>
            <a:r>
              <a:rPr sz="1700" dirty="0">
                <a:solidFill>
                  <a:srgbClr val="5A5A5A"/>
                </a:solidFill>
                <a:latin typeface="Arial"/>
              </a:rPr>
              <a:t>The dataset contains 5,000 transactions; Transfer is the most frequent type with 858 transactions.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 dirty="0">
                <a:solidFill>
                  <a:srgbClr val="333333"/>
                </a:solidFill>
                <a:latin typeface="Arial"/>
              </a:rPr>
              <a:t>2. Channel usage: </a:t>
            </a:r>
            <a:r>
              <a:rPr sz="1700" dirty="0">
                <a:solidFill>
                  <a:srgbClr val="5A5A5A"/>
                </a:solidFill>
                <a:latin typeface="Arial"/>
              </a:rPr>
              <a:t>Online is the busiest channel with 1,470 transactions, followed by Branch with 1,144.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 dirty="0">
                <a:solidFill>
                  <a:srgbClr val="333333"/>
                </a:solidFill>
                <a:latin typeface="Arial"/>
              </a:rPr>
              <a:t>3. Transaction status: </a:t>
            </a:r>
            <a:r>
              <a:rPr sz="1700" dirty="0">
                <a:solidFill>
                  <a:srgbClr val="5A5A5A"/>
                </a:solidFill>
                <a:latin typeface="Arial"/>
              </a:rPr>
              <a:t>1,688 transactions are Completed, while 1,684 are Pending and 1,628 are Failed.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 dirty="0">
                <a:solidFill>
                  <a:srgbClr val="333333"/>
                </a:solidFill>
                <a:latin typeface="Arial"/>
              </a:rPr>
              <a:t>4. Completed value: </a:t>
            </a:r>
            <a:r>
              <a:rPr sz="1700" dirty="0">
                <a:solidFill>
                  <a:srgbClr val="5A5A5A"/>
                </a:solidFill>
                <a:latin typeface="Arial"/>
              </a:rPr>
              <a:t>Completed transactions account for $10.98M in recorded transaction value.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F0D2A9-91A2-9E55-3984-4B508125A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15" y="1282748"/>
            <a:ext cx="6682540" cy="7099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309707-12C9-5AF5-19BF-B3BA76F42F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066"/>
          <a:stretch>
            <a:fillRect/>
          </a:stretch>
        </p:blipFill>
        <p:spPr>
          <a:xfrm>
            <a:off x="1769228" y="2070340"/>
            <a:ext cx="2362530" cy="14362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F494B8-2D40-E7A3-F14D-A949AFB79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1" y="3617301"/>
            <a:ext cx="5825418" cy="9265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8F4A24-C26A-86A0-5E73-D426BBA6FC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2896" y="4654494"/>
            <a:ext cx="2921880" cy="123368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sz="2200">
                <a:solidFill>
                  <a:srgbClr val="C00000"/>
                </a:solidFill>
                <a:latin typeface="Lato Black"/>
              </a:rPr>
              <a:t>Loan Performance &amp; Repayment Behaviour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8124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>
                <a:solidFill>
                  <a:srgbClr val="5A5A5A"/>
                </a:solidFill>
                <a:latin typeface="Arial"/>
              </a:rPr>
              <a:t>Are loan customers repaying as expected?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1005840"/>
            <a:ext cx="10058400" cy="228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40746" y="1248242"/>
            <a:ext cx="3876022" cy="4847674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>
                <a:solidFill>
                  <a:srgbClr val="333333"/>
                </a:solidFill>
                <a:latin typeface="Arial"/>
              </a:rPr>
              <a:t>1. Loan mix: </a:t>
            </a:r>
            <a:r>
              <a:rPr sz="1700">
                <a:solidFill>
                  <a:srgbClr val="5A5A5A"/>
                </a:solidFill>
                <a:latin typeface="Arial"/>
              </a:rPr>
              <a:t>Education loans are the largest category with 64 loans, followed by Business loans with 52.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>
                <a:solidFill>
                  <a:srgbClr val="333333"/>
                </a:solidFill>
                <a:latin typeface="Arial"/>
              </a:rPr>
              <a:t>2. Portfolio exposure: </a:t>
            </a:r>
            <a:r>
              <a:rPr sz="1700">
                <a:solidFill>
                  <a:srgbClr val="5A5A5A"/>
                </a:solidFill>
                <a:latin typeface="Arial"/>
              </a:rPr>
              <a:t>Total outstanding loan balance is $53.44M; Education loans contribute the largest share at $10.94M.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>
                <a:solidFill>
                  <a:srgbClr val="333333"/>
                </a:solidFill>
                <a:latin typeface="Arial"/>
              </a:rPr>
              <a:t>3. Repayment risk: </a:t>
            </a:r>
            <a:r>
              <a:rPr sz="1700">
                <a:solidFill>
                  <a:srgbClr val="5A5A5A"/>
                </a:solidFill>
                <a:latin typeface="Arial"/>
              </a:rPr>
              <a:t>169 of 300 loans are Defaulted or In Arrears, indicating a significant repayment-risk concentration.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>
                <a:solidFill>
                  <a:srgbClr val="333333"/>
                </a:solidFill>
                <a:latin typeface="Arial"/>
              </a:rPr>
              <a:t>4. Payment behaviour: </a:t>
            </a:r>
            <a:r>
              <a:rPr sz="1700">
                <a:solidFill>
                  <a:srgbClr val="5A5A5A"/>
                </a:solidFill>
                <a:latin typeface="Arial"/>
              </a:rPr>
              <a:t>500 payments were late, with an average delay of 5.63 days and total penalties of $93,961.47.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B95A26-2863-D61E-F37E-84292F3747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41"/>
          <a:stretch>
            <a:fillRect/>
          </a:stretch>
        </p:blipFill>
        <p:spPr>
          <a:xfrm>
            <a:off x="658368" y="1143345"/>
            <a:ext cx="4747049" cy="8778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4B7640-4F25-94BA-BB58-26C34AB312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700"/>
          <a:stretch>
            <a:fillRect/>
          </a:stretch>
        </p:blipFill>
        <p:spPr>
          <a:xfrm>
            <a:off x="2095298" y="2021212"/>
            <a:ext cx="2057687" cy="14279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ACB4B54-217E-F7B5-4641-1EFBC798C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864" y="3551669"/>
            <a:ext cx="3430553" cy="8790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2D9E33-678B-1BB6-3049-70B46E85AC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3588" y="3643144"/>
            <a:ext cx="1709494" cy="7486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88FF13-A8C2-08B9-C737-4706C46B19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864" y="5512771"/>
            <a:ext cx="3918110" cy="6518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313E56F-F4F5-4618-1F85-B06894C982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532" y="5512771"/>
            <a:ext cx="1162212" cy="7716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6672C72-415C-26EB-D19B-42734C5EE59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864" y="4508697"/>
            <a:ext cx="3870622" cy="7716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732B405-C3E6-3CF8-E635-98540D0F353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27778"/>
          <a:stretch>
            <a:fillRect/>
          </a:stretch>
        </p:blipFill>
        <p:spPr>
          <a:xfrm>
            <a:off x="4681974" y="4530007"/>
            <a:ext cx="1556368" cy="7225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07899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r>
              <a:rPr sz="2200">
                <a:solidFill>
                  <a:srgbClr val="C00000"/>
                </a:solidFill>
                <a:latin typeface="Lato Black"/>
              </a:rPr>
              <a:t>Card Usage &amp; Product Engagement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660826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 dirty="0">
                <a:solidFill>
                  <a:srgbClr val="5A5A5A"/>
                </a:solidFill>
                <a:latin typeface="Arial"/>
              </a:rPr>
              <a:t>How do customers use cards, and how does that connect to their broader relationship with the bank?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1095166"/>
            <a:ext cx="10058400" cy="228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74789" y="1275312"/>
            <a:ext cx="3296843" cy="45651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 dirty="0">
                <a:solidFill>
                  <a:srgbClr val="333333"/>
                </a:solidFill>
                <a:latin typeface="Arial"/>
              </a:rPr>
              <a:t>1. Card mix: </a:t>
            </a:r>
            <a:r>
              <a:rPr sz="1700" dirty="0">
                <a:solidFill>
                  <a:srgbClr val="5A5A5A"/>
                </a:solidFill>
                <a:latin typeface="Arial"/>
              </a:rPr>
              <a:t>Debit cards are more common than Credit cards, with 358 Debit and 242 Credit cards.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 dirty="0">
                <a:solidFill>
                  <a:srgbClr val="333333"/>
                </a:solidFill>
                <a:latin typeface="Arial"/>
              </a:rPr>
              <a:t>2. Active usage: </a:t>
            </a:r>
            <a:r>
              <a:rPr sz="1700" dirty="0">
                <a:solidFill>
                  <a:srgbClr val="5A5A5A"/>
                </a:solidFill>
                <a:latin typeface="Arial"/>
              </a:rPr>
              <a:t>Only 37 of 600 cards are currently active, while 563 are inactive.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 dirty="0">
                <a:solidFill>
                  <a:srgbClr val="333333"/>
                </a:solidFill>
                <a:latin typeface="Arial"/>
              </a:rPr>
              <a:t>3. Credit utilization: </a:t>
            </a:r>
            <a:r>
              <a:rPr sz="1700" dirty="0">
                <a:solidFill>
                  <a:srgbClr val="5A5A5A"/>
                </a:solidFill>
                <a:latin typeface="Arial"/>
              </a:rPr>
              <a:t>Average utilization across credit cards is approximately 39.70%.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700" b="1" dirty="0">
                <a:solidFill>
                  <a:srgbClr val="333333"/>
                </a:solidFill>
                <a:latin typeface="Arial"/>
              </a:rPr>
              <a:t>4. Reward engagement: </a:t>
            </a:r>
            <a:r>
              <a:rPr sz="1700" dirty="0">
                <a:solidFill>
                  <a:srgbClr val="5A5A5A"/>
                </a:solidFill>
                <a:latin typeface="Arial"/>
              </a:rPr>
              <a:t>Average reward points are 24,790 for Credit cards and 24,490 for Debit cards.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537542-A505-2B9C-CE9F-2EF7BC32C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275312"/>
            <a:ext cx="4619576" cy="8173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E02D86-64FF-281A-99B8-4F2EB4325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334" y="2208592"/>
            <a:ext cx="1581371" cy="8192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FDC783-0716-E390-1083-8DD72E69BB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047023"/>
            <a:ext cx="4414331" cy="8498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629A63-1616-8C33-0F8B-CBA56697C8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2334" y="3896394"/>
            <a:ext cx="1793512" cy="934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AA3055-7489-3E46-C618-B4B0AA6725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765379"/>
            <a:ext cx="5756579" cy="7195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42CF652-E285-8602-6591-88A16C15B6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2369" y="5582688"/>
            <a:ext cx="2193441" cy="8116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0">
                <a:solidFill>
                  <a:srgbClr val="C00000"/>
                </a:solidFill>
                <a:latin typeface="Lato Black"/>
              </a:rPr>
              <a:t>Overall Key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5212080" cy="11887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89304"/>
            <a:ext cx="1325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Lato Black"/>
              </a:rPr>
              <a:t>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48006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191919"/>
                </a:solidFill>
                <a:latin typeface="Arial"/>
              </a:rPr>
              <a:t>Student is the largest segment (100); Premium has the highest average income ($158.7K).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43000"/>
            <a:ext cx="5212080" cy="11887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289304"/>
            <a:ext cx="1325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Lato Black"/>
              </a:rPr>
              <a:t>Accounts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006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191919"/>
                </a:solidFill>
                <a:latin typeface="Arial"/>
              </a:rPr>
              <a:t>IRA is the most common account type (136) and holds the highest total balance ($2.89M).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651760"/>
            <a:ext cx="5212080" cy="11887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798064"/>
            <a:ext cx="1325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Lato Black"/>
              </a:rPr>
              <a:t>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48006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191919"/>
                </a:solidFill>
                <a:latin typeface="Arial"/>
              </a:rPr>
              <a:t>Online is the leading channel (1,470); 1,688 transactions are completed.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651760"/>
            <a:ext cx="5212080" cy="11887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798064"/>
            <a:ext cx="1325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Lato Black"/>
              </a:rPr>
              <a:t>Loans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48006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191919"/>
                </a:solidFill>
                <a:latin typeface="Arial"/>
              </a:rPr>
              <a:t>Education has the most loans (64) and highest outstanding balance ($10.94M).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160520"/>
            <a:ext cx="5212080" cy="11887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306824"/>
            <a:ext cx="1325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Lato Black"/>
              </a:rPr>
              <a:t>Repayments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48006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191919"/>
                </a:solidFill>
                <a:latin typeface="Arial"/>
              </a:rPr>
              <a:t>500 payments were late; average delay is 5.63 days and penalties total $93,961.47.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160520"/>
            <a:ext cx="5212080" cy="1188720"/>
          </a:xfrm>
          <a:prstGeom prst="roundRect">
            <a:avLst/>
          </a:prstGeom>
          <a:solidFill>
            <a:srgbClr val="F2F2F2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4306824"/>
            <a:ext cx="132588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Lato Black"/>
              </a:rPr>
              <a:t>Cards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63440"/>
            <a:ext cx="48006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0">
                <a:solidFill>
                  <a:srgbClr val="191919"/>
                </a:solidFill>
                <a:latin typeface="Arial"/>
              </a:rPr>
              <a:t>Debit cards are more common (358), while average credit-card utilization is 39.70%.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715000"/>
            <a:ext cx="105156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>
                <a:solidFill>
                  <a:srgbClr val="5A5A5A"/>
                </a:solidFill>
                <a:latin typeface="Arial"/>
              </a:rPr>
              <a:t>Overall: the analysis reveals clear differences in customer segments, product usage, transaction channels and repayment behaviour that can support targeted banking decisions.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0">
                <a:solidFill>
                  <a:srgbClr val="C00000"/>
                </a:solidFill>
                <a:latin typeface="Lato Black"/>
              </a:rP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Lato Black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143000"/>
            <a:ext cx="2331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191919"/>
                </a:solidFill>
                <a:latin typeface="Arial"/>
              </a:rPr>
              <a:t>Customer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1124712"/>
            <a:ext cx="740664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rial"/>
              </a:rPr>
              <a:t>Use segment, income and credit-score patterns to support more targeted product offerings.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30552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Lato Black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130552"/>
            <a:ext cx="2331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191919"/>
                </a:solidFill>
                <a:latin typeface="Arial"/>
              </a:rPr>
              <a:t>Branch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112264"/>
            <a:ext cx="740664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 dirty="0">
                <a:solidFill>
                  <a:srgbClr val="5A5A5A"/>
                </a:solidFill>
                <a:latin typeface="Arial"/>
              </a:rPr>
              <a:t>Review branch-level account activity and workload indicators to support resource allocation.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18104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Lato Black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118104"/>
            <a:ext cx="2331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191919"/>
                </a:solidFill>
                <a:latin typeface="Arial"/>
              </a:rPr>
              <a:t>Transaction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099816"/>
            <a:ext cx="740664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rial"/>
              </a:rPr>
              <a:t>Monitor dominant channels and transaction statuses; investigate failed or unusual activity.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05656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 dirty="0">
                <a:solidFill>
                  <a:srgbClr val="C00000"/>
                </a:solidFill>
                <a:latin typeface="Lato Black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105656"/>
            <a:ext cx="2331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191919"/>
                </a:solidFill>
                <a:latin typeface="Arial"/>
              </a:rPr>
              <a:t>Loan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087368"/>
            <a:ext cx="740664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rial"/>
              </a:rPr>
              <a:t>Strengthen early-warning monitoring for repayment delays and focus on loan types with higher late-payment counts.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93208"/>
            <a:ext cx="457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1">
                <a:solidFill>
                  <a:srgbClr val="C00000"/>
                </a:solidFill>
                <a:latin typeface="Lato Black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093208"/>
            <a:ext cx="233172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00" b="1">
                <a:solidFill>
                  <a:srgbClr val="191919"/>
                </a:solidFill>
                <a:latin typeface="Arial"/>
              </a:rPr>
              <a:t>Card Engagement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5074920"/>
            <a:ext cx="740664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00" b="0">
                <a:solidFill>
                  <a:srgbClr val="5A5A5A"/>
                </a:solidFill>
                <a:latin typeface="Arial"/>
              </a:rPr>
              <a:t>Use utilization and activity patterns to improve card engagement and identify cross-selling opportunities.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594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2700" b="0">
                <a:solidFill>
                  <a:srgbClr val="C00000"/>
                </a:solidFill>
                <a:latin typeface="Lato Black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0">
                <a:solidFill>
                  <a:srgbClr val="191919"/>
                </a:solidFill>
                <a:latin typeface="Arial"/>
              </a:rPr>
              <a:t>The Retail Banking Transaction Analysis project provides a structured view of customers, accounts, branches, transactions, loans, loan repayments and cards.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760" y="2148840"/>
            <a:ext cx="10698480" cy="7315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0" dirty="0">
                <a:solidFill>
                  <a:srgbClr val="191919"/>
                </a:solidFill>
                <a:latin typeface="Arial"/>
              </a:rPr>
              <a:t>MySQL was used to build the relational database and perform objective-based analysis across five business areas.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6760" y="3017520"/>
            <a:ext cx="1069848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800" b="0" dirty="0">
                <a:solidFill>
                  <a:srgbClr val="191919"/>
                </a:solidFill>
                <a:latin typeface="Arial"/>
              </a:rPr>
              <a:t>The analysis helps identify customer patterns, account and branch activity, transaction </a:t>
            </a:r>
            <a:r>
              <a:rPr sz="1800" b="0" dirty="0" err="1">
                <a:solidFill>
                  <a:srgbClr val="191919"/>
                </a:solidFill>
                <a:latin typeface="Arial"/>
              </a:rPr>
              <a:t>behaviour</a:t>
            </a:r>
            <a:r>
              <a:rPr sz="1800" b="0" dirty="0">
                <a:solidFill>
                  <a:srgbClr val="191919"/>
                </a:solidFill>
                <a:latin typeface="Arial"/>
              </a:rPr>
              <a:t>, loan repayment trends and card engagement.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00">
                <a:solidFill>
                  <a:srgbClr val="5A5A5A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58440" y="2788920"/>
            <a:ext cx="667512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3400" b="0" dirty="0">
                <a:solidFill>
                  <a:srgbClr val="C00000"/>
                </a:solidFill>
                <a:latin typeface="Libre Baskerville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44040" y="3429000"/>
            <a:ext cx="85039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00" b="0" dirty="0">
                <a:solidFill>
                  <a:srgbClr val="5A5A5A"/>
                </a:solidFill>
                <a:latin typeface="Arial"/>
              </a:rPr>
              <a:t>B. Kalyan  |  Retail Banking Transaction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1390</Words>
  <Application>Microsoft Office PowerPoint</Application>
  <PresentationFormat>Widescreen</PresentationFormat>
  <Paragraphs>234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Lato Black</vt:lpstr>
      <vt:lpstr>Libre Baskerville</vt:lpstr>
      <vt:lpstr>Arial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Kalyan Boga</cp:lastModifiedBy>
  <cp:revision>23</cp:revision>
  <dcterms:created xsi:type="dcterms:W3CDTF">2021-02-16T05:19:01Z</dcterms:created>
  <dcterms:modified xsi:type="dcterms:W3CDTF">2026-09-21T09:13:14Z</dcterms:modified>
</cp:coreProperties>
</file>